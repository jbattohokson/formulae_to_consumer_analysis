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Anaheim"/>
      <p:regular r:id="rId22"/>
      <p:bold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Anahei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DMSans-regular.fntdata"/><Relationship Id="rId23" Type="http://schemas.openxmlformats.org/officeDocument/2006/relationships/font" Target="fonts/Anahei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f2be96cb7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f2be96cb7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d6d9085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d6d9085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d6d9085c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5d6d9085c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f2be96cb7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f2be96cb7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d6d9085c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d6d9085c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d6d9085c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d6d9085c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bcb4e992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bcb4e992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d6d9085c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d6d9085c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d6d9085c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d6d9085c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d6d9085c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d6d9085c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d6d9085c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5d6d9085c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bcb4e9929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bcb4e992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-25" y="4162500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3225" y="1083400"/>
            <a:ext cx="66498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3225" y="27877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-25" y="4162500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235875" y="1119138"/>
            <a:ext cx="4194900" cy="16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2434625" y="1119150"/>
            <a:ext cx="1566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235875" y="2705113"/>
            <a:ext cx="4194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0000" y="1154276"/>
            <a:ext cx="7704000" cy="3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9pPr>
          </a:lstStyle>
          <a:p/>
        </p:txBody>
      </p:sp>
      <p:grpSp>
        <p:nvGrpSpPr>
          <p:cNvPr id="24" name="Google Shape;24;p4"/>
          <p:cNvGrpSpPr/>
          <p:nvPr/>
        </p:nvGrpSpPr>
        <p:grpSpPr>
          <a:xfrm>
            <a:off x="352475" y="-272229"/>
            <a:ext cx="8430800" cy="5520566"/>
            <a:chOff x="352475" y="-272229"/>
            <a:chExt cx="8430800" cy="5520566"/>
          </a:xfrm>
        </p:grpSpPr>
        <p:grpSp>
          <p:nvGrpSpPr>
            <p:cNvPr id="25" name="Google Shape;25;p4"/>
            <p:cNvGrpSpPr/>
            <p:nvPr/>
          </p:nvGrpSpPr>
          <p:grpSpPr>
            <a:xfrm rot="5400000">
              <a:off x="7847729" y="415667"/>
              <a:ext cx="1623441" cy="247650"/>
              <a:chOff x="1962150" y="714375"/>
              <a:chExt cx="4333800" cy="247650"/>
            </a:xfrm>
          </p:grpSpPr>
          <p:cxnSp>
            <p:nvCxnSpPr>
              <p:cNvPr id="26" name="Google Shape;26;p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0" name="Google Shape;30;p4"/>
            <p:cNvGrpSpPr/>
            <p:nvPr/>
          </p:nvGrpSpPr>
          <p:grpSpPr>
            <a:xfrm rot="5400000">
              <a:off x="12367" y="4660579"/>
              <a:ext cx="927867" cy="247650"/>
              <a:chOff x="1962150" y="714375"/>
              <a:chExt cx="4333800" cy="247650"/>
            </a:xfrm>
          </p:grpSpPr>
          <p:cxnSp>
            <p:nvCxnSpPr>
              <p:cNvPr id="31" name="Google Shape;31;p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" name="Google Shape;32;p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" name="Google Shape;33;p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" name="Google Shape;34;p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128964" y="2249775"/>
            <a:ext cx="2887500" cy="16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127538" y="2249775"/>
            <a:ext cx="2887500" cy="16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128963" y="1798575"/>
            <a:ext cx="2887500" cy="4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127538" y="1798575"/>
            <a:ext cx="2887500" cy="4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43" name="Google Shape;43;p5"/>
          <p:cNvGrpSpPr/>
          <p:nvPr/>
        </p:nvGrpSpPr>
        <p:grpSpPr>
          <a:xfrm>
            <a:off x="-185795" y="291850"/>
            <a:ext cx="790052" cy="247650"/>
            <a:chOff x="1962150" y="714375"/>
            <a:chExt cx="4333800" cy="247650"/>
          </a:xfrm>
        </p:grpSpPr>
        <p:cxnSp>
          <p:nvCxnSpPr>
            <p:cNvPr id="44" name="Google Shape;44;p5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5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5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5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1" name="Google Shape;51;p6"/>
          <p:cNvGrpSpPr/>
          <p:nvPr/>
        </p:nvGrpSpPr>
        <p:grpSpPr>
          <a:xfrm>
            <a:off x="-176484" y="1543675"/>
            <a:ext cx="9401449" cy="2525825"/>
            <a:chOff x="-176484" y="1543675"/>
            <a:chExt cx="9401449" cy="2525825"/>
          </a:xfrm>
        </p:grpSpPr>
        <p:grpSp>
          <p:nvGrpSpPr>
            <p:cNvPr id="52" name="Google Shape;52;p6"/>
            <p:cNvGrpSpPr/>
            <p:nvPr/>
          </p:nvGrpSpPr>
          <p:grpSpPr>
            <a:xfrm>
              <a:off x="8537191" y="1543675"/>
              <a:ext cx="687774" cy="247650"/>
              <a:chOff x="1962150" y="714375"/>
              <a:chExt cx="4333800" cy="247650"/>
            </a:xfrm>
          </p:grpSpPr>
          <p:cxnSp>
            <p:nvCxnSpPr>
              <p:cNvPr id="53" name="Google Shape;53;p6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" name="Google Shape;54;p6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" name="Google Shape;55;p6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6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7" name="Google Shape;57;p6"/>
            <p:cNvGrpSpPr/>
            <p:nvPr/>
          </p:nvGrpSpPr>
          <p:grpSpPr>
            <a:xfrm>
              <a:off x="-176484" y="3821850"/>
              <a:ext cx="687774" cy="247650"/>
              <a:chOff x="1962150" y="714375"/>
              <a:chExt cx="4333800" cy="247650"/>
            </a:xfrm>
          </p:grpSpPr>
          <p:cxnSp>
            <p:nvCxnSpPr>
              <p:cNvPr id="58" name="Google Shape;58;p6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" name="Google Shape;59;p6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" name="Google Shape;60;p6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" name="Google Shape;61;p6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2" name="Google Shape;62;p6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710475" y="1371750"/>
            <a:ext cx="37758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7" name="Google Shape;67;p7"/>
          <p:cNvSpPr/>
          <p:nvPr>
            <p:ph idx="2" type="pic"/>
          </p:nvPr>
        </p:nvSpPr>
        <p:spPr>
          <a:xfrm>
            <a:off x="4743450" y="1245600"/>
            <a:ext cx="3677700" cy="3234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" name="Google Shape;68;p7"/>
          <p:cNvGrpSpPr/>
          <p:nvPr/>
        </p:nvGrpSpPr>
        <p:grpSpPr>
          <a:xfrm>
            <a:off x="-180994" y="-162017"/>
            <a:ext cx="9002294" cy="2857592"/>
            <a:chOff x="-180994" y="-162017"/>
            <a:chExt cx="9002294" cy="2857592"/>
          </a:xfrm>
        </p:grpSpPr>
        <p:grpSp>
          <p:nvGrpSpPr>
            <p:cNvPr id="69" name="Google Shape;69;p7"/>
            <p:cNvGrpSpPr/>
            <p:nvPr/>
          </p:nvGrpSpPr>
          <p:grpSpPr>
            <a:xfrm>
              <a:off x="-180994" y="2447925"/>
              <a:ext cx="705976" cy="247650"/>
              <a:chOff x="1962150" y="714375"/>
              <a:chExt cx="4333800" cy="247650"/>
            </a:xfrm>
          </p:grpSpPr>
          <p:cxnSp>
            <p:nvCxnSpPr>
              <p:cNvPr id="70" name="Google Shape;70;p7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7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" name="Google Shape;72;p7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" name="Google Shape;73;p7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" name="Google Shape;74;p7"/>
            <p:cNvGrpSpPr/>
            <p:nvPr/>
          </p:nvGrpSpPr>
          <p:grpSpPr>
            <a:xfrm rot="5400000">
              <a:off x="8346871" y="64762"/>
              <a:ext cx="701209" cy="247650"/>
              <a:chOff x="1962150" y="714375"/>
              <a:chExt cx="4333800" cy="247650"/>
            </a:xfrm>
          </p:grpSpPr>
          <p:cxnSp>
            <p:nvCxnSpPr>
              <p:cNvPr id="75" name="Google Shape;75;p7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7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9" name="Google Shape;79;p7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" name="Google Shape;82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-25" y="4162500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6" name="Google Shape;86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2135550" y="3153500"/>
            <a:ext cx="4872900" cy="8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/>
          <p:nvPr/>
        </p:nvSpPr>
        <p:spPr>
          <a:xfrm>
            <a:off x="-25" y="4162500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>
            <p:ph idx="2" type="pic"/>
          </p:nvPr>
        </p:nvSpPr>
        <p:spPr>
          <a:xfrm>
            <a:off x="-9525" y="0"/>
            <a:ext cx="915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5515975" y="3765800"/>
            <a:ext cx="2914800" cy="838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1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94" name="Google Shape;94;p11"/>
          <p:cNvSpPr txBox="1"/>
          <p:nvPr>
            <p:ph hasCustomPrompt="1" type="title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6" name="Google Shape;96;p11"/>
          <p:cNvSpPr/>
          <p:nvPr/>
        </p:nvSpPr>
        <p:spPr>
          <a:xfrm>
            <a:off x="-25" y="4162500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2" type="title"/>
          </p:nvPr>
        </p:nvSpPr>
        <p:spPr>
          <a:xfrm>
            <a:off x="2885747" y="1495625"/>
            <a:ext cx="1107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3"/>
          <p:cNvSpPr txBox="1"/>
          <p:nvPr>
            <p:ph idx="1" type="subTitle"/>
          </p:nvPr>
        </p:nvSpPr>
        <p:spPr>
          <a:xfrm>
            <a:off x="3993350" y="1356425"/>
            <a:ext cx="3294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3" name="Google Shape;103;p13"/>
          <p:cNvSpPr txBox="1"/>
          <p:nvPr>
            <p:ph hasCustomPrompt="1" idx="3" type="title"/>
          </p:nvPr>
        </p:nvSpPr>
        <p:spPr>
          <a:xfrm>
            <a:off x="1855762" y="1535675"/>
            <a:ext cx="830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idx="4" type="title"/>
          </p:nvPr>
        </p:nvSpPr>
        <p:spPr>
          <a:xfrm>
            <a:off x="2885747" y="2552900"/>
            <a:ext cx="1107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3"/>
          <p:cNvSpPr txBox="1"/>
          <p:nvPr>
            <p:ph idx="5" type="subTitle"/>
          </p:nvPr>
        </p:nvSpPr>
        <p:spPr>
          <a:xfrm>
            <a:off x="3993350" y="2413700"/>
            <a:ext cx="3294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" name="Google Shape;106;p13"/>
          <p:cNvSpPr txBox="1"/>
          <p:nvPr>
            <p:ph hasCustomPrompt="1" idx="6" type="title"/>
          </p:nvPr>
        </p:nvSpPr>
        <p:spPr>
          <a:xfrm>
            <a:off x="1855762" y="2592950"/>
            <a:ext cx="830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7" type="title"/>
          </p:nvPr>
        </p:nvSpPr>
        <p:spPr>
          <a:xfrm>
            <a:off x="2885747" y="3610175"/>
            <a:ext cx="1107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" name="Google Shape;108;p13"/>
          <p:cNvSpPr txBox="1"/>
          <p:nvPr>
            <p:ph idx="8" type="subTitle"/>
          </p:nvPr>
        </p:nvSpPr>
        <p:spPr>
          <a:xfrm>
            <a:off x="3993350" y="3470975"/>
            <a:ext cx="3294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9" name="Google Shape;109;p13"/>
          <p:cNvSpPr txBox="1"/>
          <p:nvPr>
            <p:ph hasCustomPrompt="1" idx="9" type="title"/>
          </p:nvPr>
        </p:nvSpPr>
        <p:spPr>
          <a:xfrm>
            <a:off x="1855762" y="3650225"/>
            <a:ext cx="830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10" name="Google Shape;110;p13"/>
          <p:cNvGrpSpPr/>
          <p:nvPr/>
        </p:nvGrpSpPr>
        <p:grpSpPr>
          <a:xfrm>
            <a:off x="-110187" y="291850"/>
            <a:ext cx="9330407" cy="3895725"/>
            <a:chOff x="-110187" y="291850"/>
            <a:chExt cx="9330407" cy="3895725"/>
          </a:xfrm>
        </p:grpSpPr>
        <p:grpSp>
          <p:nvGrpSpPr>
            <p:cNvPr id="111" name="Google Shape;111;p13"/>
            <p:cNvGrpSpPr/>
            <p:nvPr/>
          </p:nvGrpSpPr>
          <p:grpSpPr>
            <a:xfrm>
              <a:off x="7618880" y="291850"/>
              <a:ext cx="1601339" cy="247650"/>
              <a:chOff x="1962150" y="714375"/>
              <a:chExt cx="4333800" cy="247650"/>
            </a:xfrm>
          </p:grpSpPr>
          <p:cxnSp>
            <p:nvCxnSpPr>
              <p:cNvPr id="112" name="Google Shape;112;p13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13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3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6" name="Google Shape;116;p13"/>
            <p:cNvGrpSpPr/>
            <p:nvPr/>
          </p:nvGrpSpPr>
          <p:grpSpPr>
            <a:xfrm>
              <a:off x="-110187" y="3939925"/>
              <a:ext cx="829923" cy="247650"/>
              <a:chOff x="1962150" y="714375"/>
              <a:chExt cx="4333800" cy="247650"/>
            </a:xfrm>
          </p:grpSpPr>
          <p:cxnSp>
            <p:nvCxnSpPr>
              <p:cNvPr id="117" name="Google Shape;117;p13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13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13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" name="Google Shape;120;p13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21" name="Google Shape;121;p13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" name="Google Shape;125;p14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6" name="Google Shape;126;p14"/>
          <p:cNvSpPr/>
          <p:nvPr>
            <p:ph idx="2" type="pic"/>
          </p:nvPr>
        </p:nvSpPr>
        <p:spPr>
          <a:xfrm>
            <a:off x="710337" y="1376450"/>
            <a:ext cx="3858900" cy="3062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4665587" y="1376450"/>
            <a:ext cx="3762300" cy="3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8" name="Google Shape;128;p14"/>
          <p:cNvGrpSpPr/>
          <p:nvPr/>
        </p:nvGrpSpPr>
        <p:grpSpPr>
          <a:xfrm>
            <a:off x="-184494" y="415675"/>
            <a:ext cx="9404701" cy="3790950"/>
            <a:chOff x="-184494" y="415675"/>
            <a:chExt cx="9404701" cy="3790950"/>
          </a:xfrm>
        </p:grpSpPr>
        <p:grpSp>
          <p:nvGrpSpPr>
            <p:cNvPr id="129" name="Google Shape;129;p14"/>
            <p:cNvGrpSpPr/>
            <p:nvPr/>
          </p:nvGrpSpPr>
          <p:grpSpPr>
            <a:xfrm>
              <a:off x="8514231" y="415675"/>
              <a:ext cx="705976" cy="247650"/>
              <a:chOff x="1962150" y="714375"/>
              <a:chExt cx="4333800" cy="247650"/>
            </a:xfrm>
          </p:grpSpPr>
          <p:cxnSp>
            <p:nvCxnSpPr>
              <p:cNvPr id="130" name="Google Shape;130;p1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4" name="Google Shape;134;p14"/>
            <p:cNvGrpSpPr/>
            <p:nvPr/>
          </p:nvGrpSpPr>
          <p:grpSpPr>
            <a:xfrm>
              <a:off x="-184494" y="3958975"/>
              <a:ext cx="705976" cy="247650"/>
              <a:chOff x="1962150" y="714375"/>
              <a:chExt cx="4333800" cy="247650"/>
            </a:xfrm>
          </p:grpSpPr>
          <p:cxnSp>
            <p:nvCxnSpPr>
              <p:cNvPr id="135" name="Google Shape;135;p1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720000" y="1154278"/>
            <a:ext cx="7704000" cy="29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9pPr>
          </a:lstStyle>
          <a:p/>
        </p:txBody>
      </p:sp>
      <p:grpSp>
        <p:nvGrpSpPr>
          <p:cNvPr id="144" name="Google Shape;144;p15"/>
          <p:cNvGrpSpPr/>
          <p:nvPr/>
        </p:nvGrpSpPr>
        <p:grpSpPr>
          <a:xfrm>
            <a:off x="-273933" y="1750200"/>
            <a:ext cx="9560785" cy="2695575"/>
            <a:chOff x="-273933" y="1750200"/>
            <a:chExt cx="9560785" cy="2695575"/>
          </a:xfrm>
        </p:grpSpPr>
        <p:grpSp>
          <p:nvGrpSpPr>
            <p:cNvPr id="145" name="Google Shape;145;p15"/>
            <p:cNvGrpSpPr/>
            <p:nvPr/>
          </p:nvGrpSpPr>
          <p:grpSpPr>
            <a:xfrm>
              <a:off x="8423992" y="4198125"/>
              <a:ext cx="862860" cy="247650"/>
              <a:chOff x="1962150" y="714375"/>
              <a:chExt cx="4333800" cy="247650"/>
            </a:xfrm>
          </p:grpSpPr>
          <p:cxnSp>
            <p:nvCxnSpPr>
              <p:cNvPr id="146" name="Google Shape;146;p15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5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5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5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0" name="Google Shape;150;p15"/>
            <p:cNvGrpSpPr/>
            <p:nvPr/>
          </p:nvGrpSpPr>
          <p:grpSpPr>
            <a:xfrm>
              <a:off x="-273933" y="1750200"/>
              <a:ext cx="862860" cy="247650"/>
              <a:chOff x="1962150" y="714375"/>
              <a:chExt cx="4333800" cy="247650"/>
            </a:xfrm>
          </p:grpSpPr>
          <p:cxnSp>
            <p:nvCxnSpPr>
              <p:cNvPr id="151" name="Google Shape;151;p15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15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15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" name="Google Shape;154;p15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720000" y="1154279"/>
            <a:ext cx="7704000" cy="20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9pPr>
          </a:lstStyle>
          <a:p/>
        </p:txBody>
      </p:sp>
      <p:grpSp>
        <p:nvGrpSpPr>
          <p:cNvPr id="160" name="Google Shape;160;p16"/>
          <p:cNvGrpSpPr/>
          <p:nvPr/>
        </p:nvGrpSpPr>
        <p:grpSpPr>
          <a:xfrm>
            <a:off x="8423997" y="1342725"/>
            <a:ext cx="862860" cy="247650"/>
            <a:chOff x="1962150" y="714375"/>
            <a:chExt cx="4333800" cy="247650"/>
          </a:xfrm>
        </p:grpSpPr>
        <p:cxnSp>
          <p:nvCxnSpPr>
            <p:cNvPr id="161" name="Google Shape;161;p16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6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6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6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-25" y="4162425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713225" y="2785400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713225" y="1005925"/>
            <a:ext cx="59829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70" name="Google Shape;170;p17"/>
          <p:cNvGrpSpPr/>
          <p:nvPr/>
        </p:nvGrpSpPr>
        <p:grpSpPr>
          <a:xfrm>
            <a:off x="-32094" y="3692275"/>
            <a:ext cx="705976" cy="247650"/>
            <a:chOff x="1962150" y="714375"/>
            <a:chExt cx="4333800" cy="247650"/>
          </a:xfrm>
        </p:grpSpPr>
        <p:cxnSp>
          <p:nvCxnSpPr>
            <p:cNvPr id="171" name="Google Shape;171;p17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17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17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17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78" name="Google Shape;178;p18"/>
          <p:cNvGrpSpPr/>
          <p:nvPr/>
        </p:nvGrpSpPr>
        <p:grpSpPr>
          <a:xfrm>
            <a:off x="338750" y="-258725"/>
            <a:ext cx="9063719" cy="4574619"/>
            <a:chOff x="338750" y="-258725"/>
            <a:chExt cx="9063719" cy="4574619"/>
          </a:xfrm>
        </p:grpSpPr>
        <p:grpSp>
          <p:nvGrpSpPr>
            <p:cNvPr id="179" name="Google Shape;179;p18"/>
            <p:cNvGrpSpPr/>
            <p:nvPr/>
          </p:nvGrpSpPr>
          <p:grpSpPr>
            <a:xfrm rot="5400000">
              <a:off x="57581" y="22443"/>
              <a:ext cx="809987" cy="247650"/>
              <a:chOff x="1962150" y="714375"/>
              <a:chExt cx="4333800" cy="247650"/>
            </a:xfrm>
          </p:grpSpPr>
          <p:cxnSp>
            <p:nvCxnSpPr>
              <p:cNvPr id="180" name="Google Shape;180;p18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18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18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18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4" name="Google Shape;184;p18"/>
            <p:cNvGrpSpPr/>
            <p:nvPr/>
          </p:nvGrpSpPr>
          <p:grpSpPr>
            <a:xfrm>
              <a:off x="8592481" y="4068243"/>
              <a:ext cx="809987" cy="247650"/>
              <a:chOff x="1962150" y="714375"/>
              <a:chExt cx="4333800" cy="247650"/>
            </a:xfrm>
          </p:grpSpPr>
          <p:cxnSp>
            <p:nvCxnSpPr>
              <p:cNvPr id="185" name="Google Shape;185;p18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8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18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18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9" name="Google Shape;189;p18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92" name="Google Shape;19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" type="subTitle"/>
          </p:nvPr>
        </p:nvSpPr>
        <p:spPr>
          <a:xfrm>
            <a:off x="4770164" y="1315213"/>
            <a:ext cx="3469800" cy="29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94" name="Google Shape;194;p19"/>
          <p:cNvSpPr txBox="1"/>
          <p:nvPr>
            <p:ph idx="2" type="subTitle"/>
          </p:nvPr>
        </p:nvSpPr>
        <p:spPr>
          <a:xfrm>
            <a:off x="904025" y="1315213"/>
            <a:ext cx="3469800" cy="29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grpSp>
        <p:nvGrpSpPr>
          <p:cNvPr id="195" name="Google Shape;195;p19"/>
          <p:cNvGrpSpPr/>
          <p:nvPr/>
        </p:nvGrpSpPr>
        <p:grpSpPr>
          <a:xfrm>
            <a:off x="-155713" y="-329428"/>
            <a:ext cx="8122213" cy="3856763"/>
            <a:chOff x="-155713" y="-329428"/>
            <a:chExt cx="8122213" cy="3856763"/>
          </a:xfrm>
        </p:grpSpPr>
        <p:grpSp>
          <p:nvGrpSpPr>
            <p:cNvPr id="196" name="Google Shape;196;p19"/>
            <p:cNvGrpSpPr/>
            <p:nvPr/>
          </p:nvGrpSpPr>
          <p:grpSpPr>
            <a:xfrm rot="5400000">
              <a:off x="7408212" y="-18790"/>
              <a:ext cx="868927" cy="247650"/>
              <a:chOff x="1962150" y="714375"/>
              <a:chExt cx="4333800" cy="247650"/>
            </a:xfrm>
          </p:grpSpPr>
          <p:cxnSp>
            <p:nvCxnSpPr>
              <p:cNvPr id="197" name="Google Shape;197;p19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19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19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19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01" name="Google Shape;201;p19"/>
            <p:cNvGrpSpPr/>
            <p:nvPr/>
          </p:nvGrpSpPr>
          <p:grpSpPr>
            <a:xfrm>
              <a:off x="-155713" y="3279685"/>
              <a:ext cx="868927" cy="247650"/>
              <a:chOff x="1962150" y="714375"/>
              <a:chExt cx="4333800" cy="247650"/>
            </a:xfrm>
          </p:grpSpPr>
          <p:cxnSp>
            <p:nvCxnSpPr>
              <p:cNvPr id="202" name="Google Shape;202;p19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19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19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19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06" name="Google Shape;206;p19"/>
          <p:cNvSpPr/>
          <p:nvPr/>
        </p:nvSpPr>
        <p:spPr>
          <a:xfrm>
            <a:off x="-25" y="4615800"/>
            <a:ext cx="91440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-25" y="4162500"/>
            <a:ext cx="9144000" cy="98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10" name="Google Shape;210;p20"/>
          <p:cNvSpPr txBox="1"/>
          <p:nvPr>
            <p:ph type="title"/>
          </p:nvPr>
        </p:nvSpPr>
        <p:spPr>
          <a:xfrm>
            <a:off x="713264" y="539500"/>
            <a:ext cx="34281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" type="subTitle"/>
          </p:nvPr>
        </p:nvSpPr>
        <p:spPr>
          <a:xfrm>
            <a:off x="713225" y="1460975"/>
            <a:ext cx="342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0"/>
          <p:cNvSpPr txBox="1"/>
          <p:nvPr/>
        </p:nvSpPr>
        <p:spPr>
          <a:xfrm>
            <a:off x="713275" y="2927450"/>
            <a:ext cx="38586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 rot="5400000">
            <a:off x="-294683" y="151366"/>
            <a:ext cx="1547167" cy="247650"/>
            <a:chOff x="1962150" y="714375"/>
            <a:chExt cx="4333800" cy="247650"/>
          </a:xfrm>
        </p:grpSpPr>
        <p:cxnSp>
          <p:nvCxnSpPr>
            <p:cNvPr id="214" name="Google Shape;214;p20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20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"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228575" y="225300"/>
            <a:ext cx="8686800" cy="469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/>
          <p:nvPr/>
        </p:nvSpPr>
        <p:spPr>
          <a:xfrm>
            <a:off x="123900" y="133200"/>
            <a:ext cx="8896200" cy="487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222" name="Google Shape;222;p22"/>
          <p:cNvGrpSpPr/>
          <p:nvPr/>
        </p:nvGrpSpPr>
        <p:grpSpPr>
          <a:xfrm>
            <a:off x="123900" y="133201"/>
            <a:ext cx="8896200" cy="4877129"/>
            <a:chOff x="123900" y="168749"/>
            <a:chExt cx="8896200" cy="4806000"/>
          </a:xfrm>
        </p:grpSpPr>
        <p:grpSp>
          <p:nvGrpSpPr>
            <p:cNvPr id="223" name="Google Shape;223;p22"/>
            <p:cNvGrpSpPr/>
            <p:nvPr/>
          </p:nvGrpSpPr>
          <p:grpSpPr>
            <a:xfrm>
              <a:off x="200100" y="168749"/>
              <a:ext cx="247650" cy="1663200"/>
              <a:chOff x="367125" y="261749"/>
              <a:chExt cx="247650" cy="1663200"/>
            </a:xfrm>
          </p:grpSpPr>
          <p:cxnSp>
            <p:nvCxnSpPr>
              <p:cNvPr id="224" name="Google Shape;224;p22"/>
              <p:cNvCxnSpPr/>
              <p:nvPr/>
            </p:nvCxnSpPr>
            <p:spPr>
              <a:xfrm rot="5400000">
                <a:off x="-21682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22"/>
              <p:cNvCxnSpPr/>
              <p:nvPr/>
            </p:nvCxnSpPr>
            <p:spPr>
              <a:xfrm rot="5400000">
                <a:off x="-22092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2"/>
              <p:cNvCxnSpPr/>
              <p:nvPr/>
            </p:nvCxnSpPr>
            <p:spPr>
              <a:xfrm rot="5400000">
                <a:off x="-30347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22"/>
              <p:cNvCxnSpPr/>
              <p:nvPr/>
            </p:nvCxnSpPr>
            <p:spPr>
              <a:xfrm rot="5400000">
                <a:off x="-46447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28" name="Google Shape;228;p22"/>
            <p:cNvGrpSpPr/>
            <p:nvPr/>
          </p:nvGrpSpPr>
          <p:grpSpPr>
            <a:xfrm flipH="1" rot="-5400000">
              <a:off x="831675" y="3943124"/>
              <a:ext cx="247650" cy="1663200"/>
              <a:chOff x="367125" y="261749"/>
              <a:chExt cx="247650" cy="1663200"/>
            </a:xfrm>
          </p:grpSpPr>
          <p:cxnSp>
            <p:nvCxnSpPr>
              <p:cNvPr id="229" name="Google Shape;229;p22"/>
              <p:cNvCxnSpPr/>
              <p:nvPr/>
            </p:nvCxnSpPr>
            <p:spPr>
              <a:xfrm rot="5400000">
                <a:off x="-21682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" name="Google Shape;230;p22"/>
              <p:cNvCxnSpPr/>
              <p:nvPr/>
            </p:nvCxnSpPr>
            <p:spPr>
              <a:xfrm rot="5400000">
                <a:off x="-22092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22"/>
              <p:cNvCxnSpPr/>
              <p:nvPr/>
            </p:nvCxnSpPr>
            <p:spPr>
              <a:xfrm rot="5400000">
                <a:off x="-30347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2"/>
              <p:cNvCxnSpPr/>
              <p:nvPr/>
            </p:nvCxnSpPr>
            <p:spPr>
              <a:xfrm rot="5400000">
                <a:off x="-46447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3" name="Google Shape;233;p22"/>
            <p:cNvGrpSpPr/>
            <p:nvPr/>
          </p:nvGrpSpPr>
          <p:grpSpPr>
            <a:xfrm rot="5400000">
              <a:off x="8064675" y="-462826"/>
              <a:ext cx="247650" cy="1663200"/>
              <a:chOff x="367125" y="261749"/>
              <a:chExt cx="247650" cy="1663200"/>
            </a:xfrm>
          </p:grpSpPr>
          <p:cxnSp>
            <p:nvCxnSpPr>
              <p:cNvPr id="234" name="Google Shape;234;p22"/>
              <p:cNvCxnSpPr/>
              <p:nvPr/>
            </p:nvCxnSpPr>
            <p:spPr>
              <a:xfrm rot="5400000">
                <a:off x="-21682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22"/>
              <p:cNvCxnSpPr/>
              <p:nvPr/>
            </p:nvCxnSpPr>
            <p:spPr>
              <a:xfrm rot="5400000">
                <a:off x="-22092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22"/>
              <p:cNvCxnSpPr/>
              <p:nvPr/>
            </p:nvCxnSpPr>
            <p:spPr>
              <a:xfrm rot="5400000">
                <a:off x="-30347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22"/>
              <p:cNvCxnSpPr/>
              <p:nvPr/>
            </p:nvCxnSpPr>
            <p:spPr>
              <a:xfrm rot="5400000">
                <a:off x="-46447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8" name="Google Shape;238;p22"/>
            <p:cNvGrpSpPr/>
            <p:nvPr/>
          </p:nvGrpSpPr>
          <p:grpSpPr>
            <a:xfrm rot="10800000">
              <a:off x="8696250" y="3311549"/>
              <a:ext cx="247650" cy="1663200"/>
              <a:chOff x="367125" y="261749"/>
              <a:chExt cx="247650" cy="1663200"/>
            </a:xfrm>
          </p:grpSpPr>
          <p:cxnSp>
            <p:nvCxnSpPr>
              <p:cNvPr id="239" name="Google Shape;239;p22"/>
              <p:cNvCxnSpPr/>
              <p:nvPr/>
            </p:nvCxnSpPr>
            <p:spPr>
              <a:xfrm rot="5400000">
                <a:off x="-21682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" name="Google Shape;240;p22"/>
              <p:cNvCxnSpPr/>
              <p:nvPr/>
            </p:nvCxnSpPr>
            <p:spPr>
              <a:xfrm rot="5400000">
                <a:off x="-22092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" name="Google Shape;241;p22"/>
              <p:cNvCxnSpPr/>
              <p:nvPr/>
            </p:nvCxnSpPr>
            <p:spPr>
              <a:xfrm rot="5400000">
                <a:off x="-303475" y="1014908"/>
                <a:ext cx="15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22"/>
              <p:cNvCxnSpPr/>
              <p:nvPr/>
            </p:nvCxnSpPr>
            <p:spPr>
              <a:xfrm rot="5400000">
                <a:off x="-464475" y="1093349"/>
                <a:ext cx="166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hyperlink" Target="https://www.sciencedirect.com/science/article/pii/S0301421519302329" TargetMode="External"/><Relationship Id="rId20" Type="http://schemas.openxmlformats.org/officeDocument/2006/relationships/hyperlink" Target="https://www.nature.com/articles/s41560-020-00700-3" TargetMode="External"/><Relationship Id="rId42" Type="http://schemas.openxmlformats.org/officeDocument/2006/relationships/hyperlink" Target="https://www.brookings.edu/research/the-economic-impact-of-electric-vehicles/" TargetMode="External"/><Relationship Id="rId41" Type="http://schemas.openxmlformats.org/officeDocument/2006/relationships/hyperlink" Target="https://www.brookings.edu/research/the-economic-impact-of-electric-vehicles/" TargetMode="External"/><Relationship Id="rId22" Type="http://schemas.openxmlformats.org/officeDocument/2006/relationships/hyperlink" Target="https://www.nature.com/articles/s41560-020-00700-3" TargetMode="External"/><Relationship Id="rId21" Type="http://schemas.openxmlformats.org/officeDocument/2006/relationships/hyperlink" Target="https://www.nature.com/articles/s41560-020-00700-3" TargetMode="External"/><Relationship Id="rId24" Type="http://schemas.openxmlformats.org/officeDocument/2006/relationships/hyperlink" Target="https://lucidmotors.com/technology" TargetMode="External"/><Relationship Id="rId23" Type="http://schemas.openxmlformats.org/officeDocument/2006/relationships/hyperlink" Target="https://lucidmotors.com/technology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fiaformulae.com/en/championship/technical-regulations" TargetMode="External"/><Relationship Id="rId4" Type="http://schemas.openxmlformats.org/officeDocument/2006/relationships/hyperlink" Target="https://www.fiaformulae.com/en/championship/technical-regulations" TargetMode="External"/><Relationship Id="rId9" Type="http://schemas.openxmlformats.org/officeDocument/2006/relationships/hyperlink" Target="https://www.energy.gov/eere/vehicles/articles/fact-937-june-8-2015-electric-vehicle-batteries" TargetMode="External"/><Relationship Id="rId26" Type="http://schemas.openxmlformats.org/officeDocument/2006/relationships/hyperlink" Target="https://www.bloomberg.com/news/articles/2023-03-10/how-lucid-motors-battery-tech-pushed-ev-limits" TargetMode="External"/><Relationship Id="rId25" Type="http://schemas.openxmlformats.org/officeDocument/2006/relationships/hyperlink" Target="https://lucidmotors.com/technology" TargetMode="External"/><Relationship Id="rId28" Type="http://schemas.openxmlformats.org/officeDocument/2006/relationships/hyperlink" Target="https://www.bloomberg.com/news/articles/2023-03-10/how-lucid-motors-battery-tech-pushed-ev-limits" TargetMode="External"/><Relationship Id="rId27" Type="http://schemas.openxmlformats.org/officeDocument/2006/relationships/hyperlink" Target="https://www.bloomberg.com/news/articles/2023-03-10/how-lucid-motors-battery-tech-pushed-ev-limits" TargetMode="External"/><Relationship Id="rId5" Type="http://schemas.openxmlformats.org/officeDocument/2006/relationships/hyperlink" Target="https://www.mclaren.com/applied/innovation/formula-e-batteries/" TargetMode="External"/><Relationship Id="rId6" Type="http://schemas.openxmlformats.org/officeDocument/2006/relationships/hyperlink" Target="https://www.mclaren.com/applied/innovation/formula-e-batteries/" TargetMode="External"/><Relationship Id="rId29" Type="http://schemas.openxmlformats.org/officeDocument/2006/relationships/hyperlink" Target="https://www.nature.com/articles/s41560-022-01004-z" TargetMode="External"/><Relationship Id="rId7" Type="http://schemas.openxmlformats.org/officeDocument/2006/relationships/hyperlink" Target="https://www.mclaren.com/applied/innovation/formula-e-batteries/" TargetMode="External"/><Relationship Id="rId8" Type="http://schemas.openxmlformats.org/officeDocument/2006/relationships/hyperlink" Target="https://www.energy.gov/eere/vehicles/articles/fact-937-june-8-2015-electric-vehicle-batteries" TargetMode="External"/><Relationship Id="rId31" Type="http://schemas.openxmlformats.org/officeDocument/2006/relationships/hyperlink" Target="https://www.nature.com/articles/s41560-022-01004-z" TargetMode="External"/><Relationship Id="rId30" Type="http://schemas.openxmlformats.org/officeDocument/2006/relationships/hyperlink" Target="https://www.nature.com/articles/s41560-022-01004-z" TargetMode="External"/><Relationship Id="rId11" Type="http://schemas.openxmlformats.org/officeDocument/2006/relationships/hyperlink" Target="https://www.sciencedirect.com/science/article/pii/S0378775320300870" TargetMode="External"/><Relationship Id="rId33" Type="http://schemas.openxmlformats.org/officeDocument/2006/relationships/hyperlink" Target="https://www.reuters.com/business/autos-transportation/lucid-motors-production-growth-2024-01-15/" TargetMode="External"/><Relationship Id="rId10" Type="http://schemas.openxmlformats.org/officeDocument/2006/relationships/hyperlink" Target="https://www.energy.gov/eere/vehicles/articles/fact-937-june-8-2015-electric-vehicle-batteries" TargetMode="External"/><Relationship Id="rId32" Type="http://schemas.openxmlformats.org/officeDocument/2006/relationships/hyperlink" Target="https://www.reuters.com/business/autos-transportation/lucid-motors-production-growth-2024-01-15/" TargetMode="External"/><Relationship Id="rId13" Type="http://schemas.openxmlformats.org/officeDocument/2006/relationships/hyperlink" Target="https://www.sciencedirect.com/science/article/pii/S0378775320300870" TargetMode="External"/><Relationship Id="rId35" Type="http://schemas.openxmlformats.org/officeDocument/2006/relationships/hyperlink" Target="https://www.oecd.org/sti/inno/48137345.pdf" TargetMode="External"/><Relationship Id="rId12" Type="http://schemas.openxmlformats.org/officeDocument/2006/relationships/hyperlink" Target="https://www.sciencedirect.com/science/article/pii/S0378775320300870" TargetMode="External"/><Relationship Id="rId34" Type="http://schemas.openxmlformats.org/officeDocument/2006/relationships/hyperlink" Target="https://www.reuters.com/business/autos-transportation/lucid-motors-production-growth-2024-01-15/" TargetMode="External"/><Relationship Id="rId15" Type="http://schemas.openxmlformats.org/officeDocument/2006/relationships/hyperlink" Target="https://www.fia.com/news/gen3-battery-boosts-electric-racing" TargetMode="External"/><Relationship Id="rId37" Type="http://schemas.openxmlformats.org/officeDocument/2006/relationships/hyperlink" Target="https://www.oecd.org/sti/inno/48137345.pdf" TargetMode="External"/><Relationship Id="rId14" Type="http://schemas.openxmlformats.org/officeDocument/2006/relationships/hyperlink" Target="https://www.fia.com/news/gen3-battery-boosts-electric-racing" TargetMode="External"/><Relationship Id="rId36" Type="http://schemas.openxmlformats.org/officeDocument/2006/relationships/hyperlink" Target="https://www.oecd.org/sti/inno/48137345.pdf" TargetMode="External"/><Relationship Id="rId17" Type="http://schemas.openxmlformats.org/officeDocument/2006/relationships/hyperlink" Target="https://www.sae.org/publications/technical-papers/content/2020-01-1234/" TargetMode="External"/><Relationship Id="rId39" Type="http://schemas.openxmlformats.org/officeDocument/2006/relationships/hyperlink" Target="https://www.sciencedirect.com/science/article/pii/S0301421519302329" TargetMode="External"/><Relationship Id="rId16" Type="http://schemas.openxmlformats.org/officeDocument/2006/relationships/hyperlink" Target="https://www.fia.com/news/gen3-battery-boosts-electric-racing" TargetMode="External"/><Relationship Id="rId38" Type="http://schemas.openxmlformats.org/officeDocument/2006/relationships/hyperlink" Target="https://www.sciencedirect.com/science/article/pii/S0301421519302329" TargetMode="External"/><Relationship Id="rId19" Type="http://schemas.openxmlformats.org/officeDocument/2006/relationships/hyperlink" Target="https://www.sae.org/publications/technical-papers/content/2020-01-1234/" TargetMode="External"/><Relationship Id="rId18" Type="http://schemas.openxmlformats.org/officeDocument/2006/relationships/hyperlink" Target="https://www.sae.org/publications/technical-papers/content/2020-01-123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type="ctrTitle"/>
          </p:nvPr>
        </p:nvSpPr>
        <p:spPr>
          <a:xfrm>
            <a:off x="481075" y="1083400"/>
            <a:ext cx="81432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</a:t>
            </a:r>
            <a:r>
              <a:rPr lang="en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 E &amp; Lucid Motors</a:t>
            </a:r>
            <a:endParaRPr sz="3600"/>
          </a:p>
        </p:txBody>
      </p:sp>
      <p:sp>
        <p:nvSpPr>
          <p:cNvPr id="248" name="Google Shape;248;p23"/>
          <p:cNvSpPr txBox="1"/>
          <p:nvPr>
            <p:ph idx="1" type="subTitle"/>
          </p:nvPr>
        </p:nvSpPr>
        <p:spPr>
          <a:xfrm>
            <a:off x="795850" y="2819400"/>
            <a:ext cx="25926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Akash, Julian</a:t>
            </a:r>
            <a:endParaRPr/>
          </a:p>
        </p:txBody>
      </p:sp>
      <p:grpSp>
        <p:nvGrpSpPr>
          <p:cNvPr id="249" name="Google Shape;249;p23"/>
          <p:cNvGrpSpPr/>
          <p:nvPr/>
        </p:nvGrpSpPr>
        <p:grpSpPr>
          <a:xfrm>
            <a:off x="8230728" y="2571750"/>
            <a:ext cx="989407" cy="247650"/>
            <a:chOff x="1962150" y="714375"/>
            <a:chExt cx="4333800" cy="247650"/>
          </a:xfrm>
        </p:grpSpPr>
        <p:cxnSp>
          <p:nvCxnSpPr>
            <p:cNvPr id="250" name="Google Shape;250;p23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23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23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23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4" name="Google Shape;254;p23"/>
          <p:cNvGrpSpPr/>
          <p:nvPr/>
        </p:nvGrpSpPr>
        <p:grpSpPr>
          <a:xfrm>
            <a:off x="-66750" y="415675"/>
            <a:ext cx="1751289" cy="247650"/>
            <a:chOff x="1962150" y="714375"/>
            <a:chExt cx="4333800" cy="247650"/>
          </a:xfrm>
        </p:grpSpPr>
        <p:cxnSp>
          <p:nvCxnSpPr>
            <p:cNvPr id="255" name="Google Shape;255;p23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3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3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3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59" name="Google Shape;259;p23" title="formula_e-removebg-preview.png"/>
          <p:cNvPicPr preferRelativeResize="0"/>
          <p:nvPr/>
        </p:nvPicPr>
        <p:blipFill rotWithShape="1">
          <a:blip r:embed="rId3">
            <a:alphaModFix/>
          </a:blip>
          <a:srcRect b="0" l="-54536" r="0" t="-54536"/>
          <a:stretch/>
        </p:blipFill>
        <p:spPr>
          <a:xfrm>
            <a:off x="1310746" y="-1376375"/>
            <a:ext cx="7833255" cy="55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Battery Development and Formula E: Innovation Diffusion, Engineering, and Economic Impact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65" name="Google Shape;265;p24"/>
          <p:cNvSpPr txBox="1"/>
          <p:nvPr>
            <p:ph idx="1" type="subTitle"/>
          </p:nvPr>
        </p:nvSpPr>
        <p:spPr>
          <a:xfrm>
            <a:off x="710475" y="1371750"/>
            <a:ext cx="37758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battery technology in electric motorsports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of battery innovations within Formula E ecosystem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challenges &amp; breakthroughs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implications and spillover effects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Lucid Motors’ battery innovation strategy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275" y="1347488"/>
            <a:ext cx="4352924" cy="2448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Battery Technology Matters in Formula E</a:t>
            </a:r>
            <a:endParaRPr sz="2000"/>
          </a:p>
        </p:txBody>
      </p:sp>
      <p:sp>
        <p:nvSpPr>
          <p:cNvPr id="272" name="Google Shape;272;p25"/>
          <p:cNvSpPr txBox="1"/>
          <p:nvPr>
            <p:ph idx="1" type="subTitle"/>
          </p:nvPr>
        </p:nvSpPr>
        <p:spPr>
          <a:xfrm>
            <a:off x="720000" y="1141650"/>
            <a:ext cx="37758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 E is the premier fully electric racing championship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Batteries are the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technology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determining race performance, range, safety, and cost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improvements enable: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energy density → longer race distances, fewer pit stops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charging → dynamic race strategies and reduced downtime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safety → reducing fire risk and malfunctions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reduction → accelerating broader EV adoption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275" y="1351475"/>
            <a:ext cx="4352925" cy="2440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Key Battery Technologies in Formula 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9" name="Google Shape;279;p26"/>
          <p:cNvSpPr txBox="1"/>
          <p:nvPr>
            <p:ph idx="1" type="subTitle"/>
          </p:nvPr>
        </p:nvSpPr>
        <p:spPr>
          <a:xfrm>
            <a:off x="720000" y="1165200"/>
            <a:ext cx="37758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Lithium-ion cells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dominate Formula E batteries; evolving to solid-state and novel chemistries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components: cell chemistry, cooling systems, battery management systems (BMS)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 E teams collaborate with industry leaders (e.g., McLaren Applied, Williams Advanced Engineering) for R&amp;D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thermal management and modular pack design improve energy density, reliability, and safety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340975"/>
            <a:ext cx="4343400" cy="2899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568050" y="445025"/>
            <a:ext cx="78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Diffusion of Battery Innovation in Formula 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86" name="Google Shape;286;p27"/>
          <p:cNvSpPr txBox="1"/>
          <p:nvPr>
            <p:ph idx="1" type="subTitle"/>
          </p:nvPr>
        </p:nvSpPr>
        <p:spPr>
          <a:xfrm>
            <a:off x="4665587" y="1149225"/>
            <a:ext cx="3762300" cy="3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theory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adopters: Formula E teams pushing boundaries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 effect: showcasing technology’s performance in competitive environments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Spillover effect: innovations transfer to consumer EV industry and battery manufacturing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effects: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adoption leads to supplier investment and economies of scale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Charging infrastructure demand grows with race events, facilitating broader market development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7" name="Google Shape;2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51" y="1431549"/>
            <a:ext cx="4054027" cy="228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Challenges &amp; 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4668612" y="1128575"/>
            <a:ext cx="3762300" cy="3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Density vs. Weight: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Tradeoff between battery size and vehicle performance—lighter batteries enable faster acceleration and handling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Management: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charge/discharge rates produce heat; advanced liquid cooling prevents degradation and thermal runaway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Charging: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Formula E pushes charge rates up to hundreds of kW, requiring robust cell chemistry and BMS to avoid capacity loss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Regulations: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FIA mandates strict standards for crash resistance, fire prevention, and durability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004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50" y="1369663"/>
            <a:ext cx="4234325" cy="24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 E Battery Evolution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"/>
          <p:cNvSpPr txBox="1"/>
          <p:nvPr>
            <p:ph idx="1" type="subTitle"/>
          </p:nvPr>
        </p:nvSpPr>
        <p:spPr>
          <a:xfrm>
            <a:off x="4665587" y="1376450"/>
            <a:ext cx="3762300" cy="3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3200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1 (2014-2017):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~28 kWh capacity, requiring car swaps mid-race due to limited range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2 (2018-2020):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~54 kWh capacity, enabling full race distance on a single charge; major leap in energy density and pack efficiency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3 (2023 onward):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Focus on lighter, faster-charging batteries with active cooling, improved recyclability, and modular design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Ongoing R&amp;D driven by competitive pressure and sustainability mandates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004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75" y="1641650"/>
            <a:ext cx="4113201" cy="20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Broader Industry Impact &amp; Economic Analysis</a:t>
            </a:r>
            <a:endParaRPr sz="2400"/>
          </a:p>
        </p:txBody>
      </p:sp>
      <p:sp>
        <p:nvSpPr>
          <p:cNvPr id="307" name="Google Shape;307;p30"/>
          <p:cNvSpPr txBox="1"/>
          <p:nvPr>
            <p:ph idx="1" type="body"/>
          </p:nvPr>
        </p:nvSpPr>
        <p:spPr>
          <a:xfrm>
            <a:off x="720000" y="1017725"/>
            <a:ext cx="4547400" cy="29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 E as Innovation Testbed: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Racing accelerates battery tech development and validation under extreme conditions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Drivers: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R&amp;D investment creates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first-mover advantages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innovation leadership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Economies of scale reduce costs, making advanced batteries more accessible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effects expand supplier ecosystems and infrastructure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Spillover Effects: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Improvements in battery life, safety, and charging speed benefit consumer EVs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Intellectual property and know-how diffuse through supplier networks and partnerships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Racing successes influence market perceptions and consumer demand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900" y="1302700"/>
            <a:ext cx="3571800" cy="2434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Lucid Motors Battery Innovation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>
            <p:ph idx="1" type="body"/>
          </p:nvPr>
        </p:nvSpPr>
        <p:spPr>
          <a:xfrm>
            <a:off x="720000" y="1094800"/>
            <a:ext cx="7704000" cy="27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Lucid Motors focuses on luxury EVs with proprietary battery R&amp;D and vertical integration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Highlights: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cells with &gt;300 Wh/kg energy density surpass many competitors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Proprietary cylindrical cell design optimized for thermal stability and longevity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liquid thermal management systems enable rapid charging and maintain durability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battery pack architecture supports scalability and cost efficiency</a:t>
            </a:r>
            <a:b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&amp; Innovation Implications: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R&amp;D spending creates technological barriers to entry and competitive advantage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integration secures knowledge and reduces supplier dependency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Spillovers drive innovation pressure on other EV makers and inform Formula E battery tech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Capital intensity, production scaling, raw material supply risks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Context: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Benefits from incentives, tax credits, and clean energy regulations</a:t>
            </a:r>
            <a:endParaRPr/>
          </a:p>
        </p:txBody>
      </p:sp>
      <p:pic>
        <p:nvPicPr>
          <p:cNvPr id="315" name="Google Shape;315;p31" title="formula_e-removebg-preview.png"/>
          <p:cNvPicPr preferRelativeResize="0"/>
          <p:nvPr/>
        </p:nvPicPr>
        <p:blipFill rotWithShape="1">
          <a:blip r:embed="rId3">
            <a:alphaModFix/>
          </a:blip>
          <a:srcRect b="0" l="-54536" r="0" t="-54536"/>
          <a:stretch/>
        </p:blipFill>
        <p:spPr>
          <a:xfrm>
            <a:off x="5959625" y="2354850"/>
            <a:ext cx="3184375" cy="22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Economic Implications for Innovation &amp; Market Dynamics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21" name="Google Shape;321;p32"/>
          <p:cNvSpPr txBox="1"/>
          <p:nvPr>
            <p:ph idx="1" type="subTitle"/>
          </p:nvPr>
        </p:nvSpPr>
        <p:spPr>
          <a:xfrm>
            <a:off x="720000" y="988650"/>
            <a:ext cx="3775800" cy="31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R&amp;D Investment &amp; First-Mover Advantage: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Lucid and Formula E teams leverage heavy upfront R&amp;D to gain competitive advantages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Efficiency: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 innovation improves battery performance and cost over time, benefiting the entire industry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Effects: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Increased adoption of advanced battery tech fosters supplier growth and infrastructure expansion, reinforcing innovation cycles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Spillover Effects: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Racing innovations accelerate technology transfer to consumer EVs, creating positive externalities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Competition &amp; Barriers to Entry: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Advanced battery tech raises entry barriers, shaping competitive dynamics in the EV market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Role: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Government support mitigates market failures, incentivizes innovation, and accelerates diffusion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2" name="Google Shape;3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350250"/>
            <a:ext cx="4343126" cy="24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Economic Implications for Innovation &amp; Market Dynamics Continued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28" name="Google Shape;328;p33"/>
          <p:cNvSpPr txBox="1"/>
          <p:nvPr>
            <p:ph idx="1" type="subTitle"/>
          </p:nvPr>
        </p:nvSpPr>
        <p:spPr>
          <a:xfrm>
            <a:off x="720000" y="988650"/>
            <a:ext cx="3775800" cy="31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innovation is central to Formula E’s competitive and sustainability success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Lucid Motors’ battery R&amp;D exemplifies economic principles of innovation in a high-tech industry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of innovations and network effects amplify technology impact across the EV ecosystem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breakthroughs in energy density, thermal management, and charging translate into economic value and competitive advantages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support and spillover effects are crucial to sustaining innovation and enabling broad market transformation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100" y="988650"/>
            <a:ext cx="3524476" cy="198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2575" y="2564928"/>
            <a:ext cx="3167800" cy="178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925" y="3346375"/>
            <a:ext cx="3849902" cy="179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4"/>
          <p:cNvSpPr txBox="1"/>
          <p:nvPr>
            <p:ph type="title"/>
          </p:nvPr>
        </p:nvSpPr>
        <p:spPr>
          <a:xfrm>
            <a:off x="720000" y="434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</a:t>
            </a:r>
            <a:r>
              <a:rPr lang="en"/>
              <a:t>Conclusions</a:t>
            </a:r>
            <a:endParaRPr/>
          </a:p>
        </p:txBody>
      </p:sp>
      <p:sp>
        <p:nvSpPr>
          <p:cNvPr id="337" name="Google Shape;337;p34"/>
          <p:cNvSpPr txBox="1"/>
          <p:nvPr>
            <p:ph idx="1" type="body"/>
          </p:nvPr>
        </p:nvSpPr>
        <p:spPr>
          <a:xfrm>
            <a:off x="720000" y="1154275"/>
            <a:ext cx="8141700" cy="28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Formula E and Lucid Motors case study illustrates the intersection of 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excellence and innovation economics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R&amp;D investment, network effects, and spillovers drive battery tech advancement and EV market growth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Racing serves as a dynamic platform accelerating technology validation and diffusion, influencing commercial EVs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transportation depends on ongoing collaboration between innovators, industry players, and policymakers to scale advanced battery technologies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43" name="Google Shape;343;p35"/>
          <p:cNvSpPr txBox="1"/>
          <p:nvPr>
            <p:ph idx="1" type="body"/>
          </p:nvPr>
        </p:nvSpPr>
        <p:spPr>
          <a:xfrm>
            <a:off x="720000" y="960525"/>
            <a:ext cx="7997100" cy="23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https://www.fiaformulae.com/en/championship/technical-regulations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https://www.mclaren.com/applied/innovation/formula-e-batteries/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https://www.energy.gov/eere/vehicles/articles/fact-937-june-8-2015-electric-vehicle-batteries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https://www.sciencedirect.com/science/article/pii/S0378775320300870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https://www.fia.com/news/gen3-battery-boosts-electric-racing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https://www.sae.org/publications/technical-papers/content/2020-01-1234/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https://www.nature.com/articles/s41560-020-00700-3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https://lucidmotors.com/technology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https://www.bloomberg.com/news/articles/2023-03-10/how-lucid-motors-battery-tech-pushed-ev-limits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0"/>
              </a:rPr>
              <a:t>https://www.nature.com/articles/s41560-022-01004-z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1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3"/>
              </a:rPr>
              <a:t>https://www.reuters.com/business/autos-transportation/lucid-motors-production-growth-2024-01-15/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4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6"/>
              </a:rPr>
              <a:t>https://www.oecd.org/sti/inno/48137345.pdf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7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9"/>
              </a:rPr>
              <a:t>https://www.sciencedirect.com/science/article/pii/S0301421519302329</a:t>
            </a:r>
            <a:b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0"/>
              </a:rPr>
            </a:br>
            <a:endParaRPr sz="1200"/>
          </a:p>
          <a:p>
            <a:pPr indent="-30480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2"/>
              </a:rPr>
              <a:t>https://www.brookings.edu/research/the-economic-impact-of-electric-vehicles/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35"/>
          <p:cNvGrpSpPr/>
          <p:nvPr/>
        </p:nvGrpSpPr>
        <p:grpSpPr>
          <a:xfrm rot="5400000">
            <a:off x="838482" y="4524069"/>
            <a:ext cx="1880436" cy="247650"/>
            <a:chOff x="1962150" y="714375"/>
            <a:chExt cx="4333800" cy="247650"/>
          </a:xfrm>
        </p:grpSpPr>
        <p:cxnSp>
          <p:nvCxnSpPr>
            <p:cNvPr id="345" name="Google Shape;345;p35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35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35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35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tomotive Industry Theme for Business by Slidesgo">
  <a:themeElements>
    <a:clrScheme name="Simple Light">
      <a:dk1>
        <a:srgbClr val="191919"/>
      </a:dk1>
      <a:lt1>
        <a:srgbClr val="F3F3F3"/>
      </a:lt1>
      <a:dk2>
        <a:srgbClr val="171783"/>
      </a:dk2>
      <a:lt2>
        <a:srgbClr val="B3363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